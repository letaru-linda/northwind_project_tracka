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87058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61518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70919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08489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1216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42499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26795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16406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31439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8791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76449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294271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25610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84742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69246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97556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3921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E185B10-8D50-4F26-9958-051E248A18FC}" type="datetimeFigureOut">
              <a:rPr lang="en-AE" smtClean="0"/>
              <a:t>09/06/2026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AE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B0DCA9C-94A5-4D2F-99FF-60407D875C1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7663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6D52-FE56-E9F0-6E09-7C24A8339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Global Sales and Shipping Performance Review</a:t>
            </a:r>
            <a:endParaRPr lang="en-A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8268F2-077D-1ECB-B2AC-3BCE686E3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699" y="2603500"/>
            <a:ext cx="5157787" cy="576262"/>
          </a:xfrm>
        </p:spPr>
        <p:txBody>
          <a:bodyPr/>
          <a:lstStyle/>
          <a:p>
            <a:r>
              <a:rPr lang="en-GB" dirty="0"/>
              <a:t>Project Team members</a:t>
            </a:r>
            <a:endParaRPr lang="en-A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123F94C-E6A1-3440-1AE6-84AC3127E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4946" y="3883418"/>
            <a:ext cx="5157787" cy="190666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dirty="0"/>
              <a:t>1. Letaru Linda Masia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dirty="0"/>
              <a:t>2. Olise Joy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dirty="0"/>
              <a:t>3. Ijeoma Nnebedum</a:t>
            </a:r>
            <a:endParaRPr lang="en-AE" sz="18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464C303-2777-D493-ED12-CB395476E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5042538" cy="576262"/>
          </a:xfrm>
        </p:spPr>
        <p:txBody>
          <a:bodyPr/>
          <a:lstStyle/>
          <a:p>
            <a:r>
              <a:rPr lang="en-GB" dirty="0"/>
              <a:t>Project Team members</a:t>
            </a:r>
            <a:endParaRPr lang="en-AE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1DFDBEA-B9CE-68BE-E1DA-DCE7AB2B23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9268" y="3883418"/>
            <a:ext cx="4901495" cy="2095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4. NdianaAbasi Edet James</a:t>
            </a:r>
          </a:p>
          <a:p>
            <a:pPr marL="0" indent="0">
              <a:buNone/>
            </a:pPr>
            <a:r>
              <a:rPr lang="en-GB" sz="1800" dirty="0"/>
              <a:t>5.⁠Ibiyemi Bello</a:t>
            </a:r>
          </a:p>
          <a:p>
            <a:pPr marL="0" indent="0">
              <a:buNone/>
            </a:pPr>
            <a:r>
              <a:rPr lang="en-GB" sz="1800" dirty="0"/>
              <a:t>6.⁠Ekemini Aniefiok Okon</a:t>
            </a:r>
          </a:p>
          <a:p>
            <a:pPr marL="0" indent="0">
              <a:buNone/>
            </a:pPr>
            <a:r>
              <a:rPr lang="en-GB" sz="1800" dirty="0"/>
              <a:t> 7.Ozegbe Olisemeka Austyn</a:t>
            </a:r>
            <a:endParaRPr lang="en-AE" sz="1800" dirty="0"/>
          </a:p>
        </p:txBody>
      </p:sp>
    </p:spTree>
    <p:extLst>
      <p:ext uri="{BB962C8B-B14F-4D97-AF65-F5344CB8AC3E}">
        <p14:creationId xmlns:p14="http://schemas.microsoft.com/office/powerpoint/2010/main" val="195685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8FA5C-EBB0-C78F-0225-0AC164A1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Executive Summary and Project Objectives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0DE7F-D851-371C-CB1C-2492492DB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z="1800" b="1" dirty="0"/>
              <a:t>Looking at Two Businesses:</a:t>
            </a:r>
            <a:r>
              <a:rPr lang="en-GB" sz="1800" dirty="0"/>
              <a:t> We studied data from two different stores: Northwind Traders (local shipping) and Global Superstore (selling items worldwide).</a:t>
            </a:r>
          </a:p>
          <a:p>
            <a:pPr>
              <a:lnSpc>
                <a:spcPct val="150000"/>
              </a:lnSpc>
            </a:pPr>
            <a:r>
              <a:rPr lang="en-GB" sz="1800" b="1" dirty="0"/>
              <a:t>Data-Driven Leadership:</a:t>
            </a:r>
            <a:r>
              <a:rPr lang="en-GB" sz="1800" dirty="0"/>
              <a:t> Translating raw operational records (~51,000 rows across global markets) into refined business intelligence pipelines.</a:t>
            </a:r>
          </a:p>
          <a:p>
            <a:pPr>
              <a:lnSpc>
                <a:spcPct val="150000"/>
              </a:lnSpc>
            </a:pPr>
            <a:r>
              <a:rPr lang="en-GB" sz="1800" b="1" dirty="0"/>
              <a:t>Core Objectives:</a:t>
            </a:r>
            <a:r>
              <a:rPr lang="en-GB" sz="1800" dirty="0"/>
              <a:t> Locate operational bottlenecks, identify margin-bleeding regions, map out churned accounts, and formalize structural guardrails to stabilize profitability.</a:t>
            </a:r>
            <a:endParaRPr lang="en-AE" sz="1800" dirty="0"/>
          </a:p>
        </p:txBody>
      </p:sp>
    </p:spTree>
    <p:extLst>
      <p:ext uri="{BB962C8B-B14F-4D97-AF65-F5344CB8AC3E}">
        <p14:creationId xmlns:p14="http://schemas.microsoft.com/office/powerpoint/2010/main" val="2874179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B27A-DFD2-25B3-14A6-1A5460F40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Cleaning Up Data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8AC71D-DDE8-64A5-F854-34BD7FE367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653" y="2390305"/>
            <a:ext cx="1205434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Relational Schema Enforcement: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Restructured Northwind Traders databases in MySQL Workbench; optimized relational key structures to track end-to-end purchasing cycles.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Query ETL 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Executed 20 critical cleaning steps on the Global Superstore raw dataset to neutralize quality issues.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Integrity Operations: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Isolated and removed leading/trailing whitespace irregularities from text indices.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mixed-case text variations across customer and product profiles.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Resolved missing international locations by replacing null entries with unified "N/A" indicators without compromising transaction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2683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4B710-8884-D687-6AFA-64D9CE38F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1 Overview — Northwind Traders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F8C579-B937-96E7-3E13-A1880C1B06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2361" y="2701747"/>
            <a:ext cx="11235814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What the Data Tracks:</a:t>
            </a:r>
            <a:r>
              <a:rPr lang="en-GB" sz="1800" dirty="0"/>
              <a:t> This dataset follows everything that happens when a store runs: customers buying items, workers packing them, and shipping companies delivering them.</a:t>
            </a:r>
            <a:endParaRPr 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Writing queries: </a:t>
            </a:r>
            <a:r>
              <a:rPr lang="en-GB" sz="1800" dirty="0"/>
              <a:t>We wrote 50 SQL queries, starting from simple counting up to advanced math to find deep problems. And the questions were grouped in Tiers as below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Tier 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Fundamental Data Extractions &amp; Inventory Tallies.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Tier 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Intermediate Aggregations &amp; Customer Revenue Groupings.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Tier 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Advanced Relational Join Logic, Performance Benchmarking, &amp; Churn Metrics.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964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FBFF-5C94-7281-6B7F-CC7A0B199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Intermediate Operations Insights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C8A416-1504-66F6-2A57-ED8F0501AF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45447"/>
            <a:ext cx="10964159" cy="2911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Revenue Concentration: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lang="en-GB" sz="1800" dirty="0"/>
              <a:t>We found that a small group of top customers brings in the most money for the business.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Fulfillment Velocity: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lang="en-GB" sz="1800" dirty="0"/>
              <a:t>We calculated exactly how many days it takes different employees to pack and ship an order.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Google Sans Text"/>
              </a:rPr>
              <a:t>Operational Risk Alert:</a:t>
            </a:r>
            <a:r>
              <a:rPr lang="en-US" altLang="en-US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lang="en-GB" dirty="0"/>
              <a:t>We found which products are running out of stock and need to be re-ordered immediately before they sell out completely.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633030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97BA-67DB-9B60-A2A1-29E642E8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Strategic Churn &amp; Retention Metrics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0F07CA-9351-7110-9F03-A84A8F35BE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5517" y="2340421"/>
            <a:ext cx="11098162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Discovery: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Identified </a:t>
            </a:r>
            <a:r>
              <a:rPr lang="en-GB" sz="1800" dirty="0"/>
              <a:t>customers who bought a lot of items in the past, but have bought absolutely nothing lately.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Implication:</a:t>
            </a:r>
            <a:r>
              <a:rPr lang="en-GB" sz="1800" dirty="0"/>
              <a:t> This analysis identifies customers who require re-engagement. It provides clear visibility into individuals to contact again through email campaigns, and supports the design of targeted special offers to encourage their return.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35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B0E6A-D078-0328-F312-B213CC61A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2 Overview — Global Superstore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B41681-17BB-BBA0-E017-89B1F1F86D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062301"/>
            <a:ext cx="11117827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Parameters</a:t>
            </a:r>
            <a:r>
              <a:rPr lang="en-GB" sz="1800" dirty="0"/>
              <a:t> Four years of sales data (2011 to 2014) covering 3 product groups across 147 different countries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Calculated Metric Dimensions: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dirty="0"/>
              <a:t>We created simple formulas to measure success: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Net Revenue: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money mad</a:t>
            </a:r>
            <a:r>
              <a:rPr lang="en-GB" altLang="en-US" sz="1800" dirty="0">
                <a:latin typeface="Arial" panose="020B0604020202020204" pitchFamily="34" charset="0"/>
              </a:rPr>
              <a:t>e after discounts were taken off.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Profit Margin %: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 Unicode MS"/>
              </a:rPr>
              <a:t>The percentage of money we actually keep after costs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i="1" dirty="0">
                <a:latin typeface="Arial" panose="020B0604020202020204" pitchFamily="34" charset="0"/>
              </a:rPr>
              <a:t> Shipping Days: How long it takes from the order day to the delivery day.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303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36E1E-5CD7-331C-1BA7-406E4B15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Regional Revenue &amp; Seasonal Dynamics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DB753E-D3AA-7547-A148-DBD8AAF0D4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58773"/>
            <a:ext cx="11216149" cy="254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Best Selling Regions:</a:t>
            </a:r>
            <a:r>
              <a:rPr lang="en-GB" sz="1800" dirty="0"/>
              <a:t> The Asia-Pacific (APAC) market brings in the most sales and money, followed by Europe and the United States.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The Holiday Rush: </a:t>
            </a:r>
            <a:r>
              <a:rPr lang="en-GB" sz="1800" dirty="0"/>
              <a:t>Every single year, sales go up massively in the 4th Quarter (October, November, and December) because of holiday shopping.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Customer Types:</a:t>
            </a:r>
            <a:r>
              <a:rPr lang="en-GB" sz="1800" dirty="0"/>
              <a:t> Everyday shoppers buy the highest number of items, but business customers spend more money on each order.</a:t>
            </a:r>
          </a:p>
        </p:txBody>
      </p:sp>
    </p:spTree>
    <p:extLst>
      <p:ext uri="{BB962C8B-B14F-4D97-AF65-F5344CB8AC3E}">
        <p14:creationId xmlns:p14="http://schemas.microsoft.com/office/powerpoint/2010/main" val="2605753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F3A7-C2D4-0206-5F8E-65FB51CCD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Profitability &amp; Discount Impact Analysis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EC1343-8C85-CA47-424F-DF79A73201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5912" y="2557430"/>
            <a:ext cx="10980175" cy="2533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Losing Money on Sales:</a:t>
            </a:r>
            <a:r>
              <a:rPr lang="en-GB" sz="1800" dirty="0"/>
              <a:t> Technology items make us the most money, but some smaller items are actually losing money even when sales look high.</a:t>
            </a:r>
            <a:endParaRPr 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The Danger Zone:</a:t>
            </a:r>
            <a:r>
              <a:rPr lang="en-GB" sz="1800" dirty="0"/>
              <a:t> Our charts prove that whenever a salesperson gives a discount bigger than 40%, the company almost always loses money on that sale.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Changing the Plan:</a:t>
            </a:r>
            <a:r>
              <a:rPr lang="en-GB" sz="1800" dirty="0"/>
              <a:t> High sales do not mean success if we are selling items at a loss just to make a deal.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866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6B65-6A07-D999-12F4-E345B495E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 Shipping and Delivery Performance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A0133C-E1AD-3FEB-B33B-4E9CD6BA8D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42159"/>
            <a:ext cx="11009672" cy="211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Promises vs. Reality:</a:t>
            </a:r>
            <a:r>
              <a:rPr lang="en-GB" sz="1800" dirty="0"/>
              <a:t> We checked whether "Same Day" shipping options actually arrive on time.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Holiday Bottlenecks:</a:t>
            </a:r>
            <a:r>
              <a:rPr lang="en-GB" sz="1800" dirty="0"/>
              <a:t> During the busy holiday season, "Same Day" shipping drops in quality because the warehouses get too full and overwhelmed.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Fixing Delays:</a:t>
            </a:r>
            <a:r>
              <a:rPr lang="en-GB" sz="1800" dirty="0"/>
              <a:t> We identified which specific shipping companies are slow so we can fix the issue.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083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DC02-1E23-AAE4-082C-D2C10B213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Strategic Executive Recommendations</a:t>
            </a:r>
            <a:endParaRPr lang="en-A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5B37D5-7893-2F29-69D7-997FC57E61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38763"/>
            <a:ext cx="10872020" cy="2125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Set a Discount Limit:</a:t>
            </a:r>
            <a:r>
              <a:rPr lang="en-GB" sz="1800" dirty="0"/>
              <a:t> Stop workers from giving more than a 20% discount unless a manager says it is okay.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Call Back Lost Customers:</a:t>
            </a:r>
            <a:r>
              <a:rPr lang="en-GB" sz="1800" dirty="0"/>
              <a:t> Give the list of old, inactive customers to the sales team so they can invite them back.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Hire Extra Help for Holidays:</a:t>
            </a:r>
            <a:r>
              <a:rPr lang="en-GB" sz="1800" dirty="0"/>
              <a:t> Add more workers and trucks in October and November to handle the holiday rush on time.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1800" b="1" dirty="0"/>
              <a:t>Stop Selling Items That Lose Money:</a:t>
            </a:r>
            <a:r>
              <a:rPr lang="en-GB" sz="1800" dirty="0"/>
              <a:t> Remove or change prices on products that always cost us money to ship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543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2AB6B-A650-80A1-177D-4830CF8E7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Project Deliverables &amp; Submission Log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33820-DFFA-C9EB-6B49-1DA3519FB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AE" b="1" dirty="0"/>
              <a:t>Questions?</a:t>
            </a:r>
          </a:p>
          <a:p>
            <a:pPr marL="0" indent="0" algn="ctr">
              <a:buNone/>
            </a:pPr>
            <a:r>
              <a:rPr lang="en-AE" dirty="0"/>
              <a:t>All project materials are saved in the shared repository</a:t>
            </a:r>
          </a:p>
          <a:p>
            <a:pPr marL="0" indent="0" algn="ctr">
              <a:buNone/>
            </a:pPr>
            <a:endParaRPr lang="en-AE" dirty="0"/>
          </a:p>
          <a:p>
            <a:pPr marL="0" indent="0" algn="ctr">
              <a:buNone/>
            </a:pPr>
            <a:r>
              <a:rPr lang="en-AE" b="1" dirty="0"/>
              <a:t>DA JAN 2026 Group 4</a:t>
            </a:r>
          </a:p>
          <a:p>
            <a:pPr marL="0" indent="0" algn="ctr">
              <a:buNone/>
            </a:pPr>
            <a:r>
              <a:rPr lang="en-AE" dirty="0"/>
              <a:t>Microsoft </a:t>
            </a:r>
            <a:r>
              <a:rPr lang="en-AE" dirty="0" err="1"/>
              <a:t>Excel.MySQL.Tableau.PowerBI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4596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Override1.xml><?xml version="1.0" encoding="utf-8"?>
<a:themeOverride xmlns:a="http://schemas.openxmlformats.org/drawingml/2006/main">
  <a:clrScheme name="Ion Boardroom">
    <a:dk1>
      <a:sysClr val="windowText" lastClr="000000"/>
    </a:dk1>
    <a:lt1>
      <a:sysClr val="window" lastClr="FFFFFF"/>
    </a:lt1>
    <a:dk2>
      <a:srgbClr val="3B3059"/>
    </a:dk2>
    <a:lt2>
      <a:srgbClr val="EBEBEB"/>
    </a:lt2>
    <a:accent1>
      <a:srgbClr val="B31166"/>
    </a:accent1>
    <a:accent2>
      <a:srgbClr val="E33D6F"/>
    </a:accent2>
    <a:accent3>
      <a:srgbClr val="E45F3C"/>
    </a:accent3>
    <a:accent4>
      <a:srgbClr val="E9943A"/>
    </a:accent4>
    <a:accent5>
      <a:srgbClr val="9B6BF2"/>
    </a:accent5>
    <a:accent6>
      <a:srgbClr val="D53DD0"/>
    </a:accent6>
    <a:hlink>
      <a:srgbClr val="8F8F8F"/>
    </a:hlink>
    <a:folHlink>
      <a:srgbClr val="A5A5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889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Unicode MS</vt:lpstr>
      <vt:lpstr>Century Gothic</vt:lpstr>
      <vt:lpstr>Google Sans Text</vt:lpstr>
      <vt:lpstr>Wingdings 3</vt:lpstr>
      <vt:lpstr>Ion Boardroom</vt:lpstr>
      <vt:lpstr>Global Sales and Shipping Performance Review</vt:lpstr>
      <vt:lpstr>Executive Summary and Project Objectives</vt:lpstr>
      <vt:lpstr>Cleaning Up Data</vt:lpstr>
      <vt:lpstr>Project 1 Overview — Northwind Traders</vt:lpstr>
      <vt:lpstr>Intermediate Operations Insights</vt:lpstr>
      <vt:lpstr>Strategic Churn &amp; Retention Metrics</vt:lpstr>
      <vt:lpstr>Project 2 Overview — Global Superstore</vt:lpstr>
      <vt:lpstr>Regional Revenue &amp; Seasonal Dynamics</vt:lpstr>
      <vt:lpstr>Profitability &amp; Discount Impact Analysis</vt:lpstr>
      <vt:lpstr> Shipping and Delivery Performance</vt:lpstr>
      <vt:lpstr>Strategic Executive Recommendations</vt:lpstr>
      <vt:lpstr>Project Deliverables &amp; Submission Log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LL M</dc:creator>
  <cp:lastModifiedBy>Letaru Linda Masia</cp:lastModifiedBy>
  <cp:revision>4</cp:revision>
  <dcterms:created xsi:type="dcterms:W3CDTF">2026-05-30T12:14:08Z</dcterms:created>
  <dcterms:modified xsi:type="dcterms:W3CDTF">2026-06-09T15:04:27Z</dcterms:modified>
</cp:coreProperties>
</file>